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6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7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8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9.xml" ContentType="application/vnd.openxmlformats-officedocument.presentationml.notesSlide+xml"/>
  <Override PartName="/ppt/tags/tag2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12"/>
  </p:notesMasterIdLst>
  <p:handoutMasterIdLst>
    <p:handoutMasterId r:id="rId13"/>
  </p:handoutMasterIdLst>
  <p:sldIdLst>
    <p:sldId id="257" r:id="rId3"/>
    <p:sldId id="287" r:id="rId4"/>
    <p:sldId id="258" r:id="rId5"/>
    <p:sldId id="259" r:id="rId6"/>
    <p:sldId id="268" r:id="rId7"/>
    <p:sldId id="269" r:id="rId8"/>
    <p:sldId id="274" r:id="rId9"/>
    <p:sldId id="286" r:id="rId10"/>
    <p:sldId id="285" r:id="rId1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5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8E5BE23-C31D-4B60-A6A4-BB17916E09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97A52E-34EA-473A-9545-39EFB35D069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3D523-4526-4E1E-AB89-17ACEA276F0B}" type="datetimeFigureOut">
              <a:rPr lang="tr-TR" smtClean="0"/>
              <a:t>21.07.2025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51E9F9-4FF7-48C4-B781-37AD03614C07}"/>
              </a:ext>
            </a:extLst>
          </p:cNvPr>
          <p:cNvSpPr>
            <a:spLocks noGrp="1"/>
          </p:cNvSpPr>
          <p:nvPr>
            <p:ph type="ftr" sz="quarter" idx="2"/>
            <p:custDataLst>
              <p:tags r:id="rId2"/>
            </p:custDataLst>
          </p:nvPr>
        </p:nvSpPr>
        <p:spPr>
          <a:xfrm>
            <a:off x="0" y="8685213"/>
            <a:ext cx="68580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tr-TR" b="1">
                <a:solidFill>
                  <a:srgbClr val="0000FF"/>
                </a:solidFill>
                <a:latin typeface="Times New Roman" panose="02020603050405020304" pitchFamily="18" charset="0"/>
              </a:rPr>
              <a:t>Kurum İçi Sınırsız Kullanım</a:t>
            </a:r>
            <a:r>
              <a:rPr lang="tr-TR" b="1">
                <a:solidFill>
                  <a:srgbClr val="000000"/>
                </a:solidFill>
                <a:latin typeface="Times New Roman" panose="02020603050405020304" pitchFamily="18" charset="0"/>
              </a:rPr>
              <a:t> / </a:t>
            </a:r>
            <a:r>
              <a:rPr lang="tr-TR" b="1">
                <a:solidFill>
                  <a:srgbClr val="00C000"/>
                </a:solidFill>
                <a:latin typeface="Times New Roman" panose="02020603050405020304" pitchFamily="18" charset="0"/>
              </a:rPr>
              <a:t>Kişisel Veri Değil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66B46F-CEE9-479B-A899-49EF0C06A2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555990-FE76-4CFB-B208-846A73E896F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03946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4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884492-22C8-4077-BD60-1E6038988B48}" type="datetimeFigureOut">
              <a:rPr lang="tr-TR" smtClean="0"/>
              <a:t>21.07.2025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2"/>
            </p:custDataLst>
          </p:nvPr>
        </p:nvSpPr>
        <p:spPr>
          <a:xfrm>
            <a:off x="0" y="8685213"/>
            <a:ext cx="68580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tr-TR"/>
            </a:lvl1pPr>
          </a:lstStyle>
          <a:p>
            <a:r>
              <a:rPr lang="tr-TR" sz="1200">
                <a:solidFill>
                  <a:srgbClr val="0000FF"/>
                </a:solidFill>
                <a:latin typeface="Times New Roman" panose="02020603050405020304" pitchFamily="18" charset="0"/>
              </a:rPr>
              <a:t>Kurum İçi Sınırsız Kullanım</a:t>
            </a:r>
            <a:r>
              <a:rPr lang="tr-TR" sz="1200">
                <a:solidFill>
                  <a:srgbClr val="000000"/>
                </a:solidFill>
                <a:latin typeface="Times New Roman" panose="02020603050405020304" pitchFamily="18" charset="0"/>
              </a:rPr>
              <a:t> / </a:t>
            </a:r>
            <a:r>
              <a:rPr lang="tr-TR" sz="1200">
                <a:solidFill>
                  <a:srgbClr val="00C000"/>
                </a:solidFill>
                <a:latin typeface="Times New Roman" panose="02020603050405020304" pitchFamily="18" charset="0"/>
              </a:rPr>
              <a:t>Kişisel Veri Değil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0FA722-50C1-4361-AF7F-BCA2769F8F6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07215604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9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5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7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9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 sz="1200" b="1">
                <a:solidFill>
                  <a:srgbClr val="0000FF"/>
                </a:solidFill>
                <a:latin typeface="Times New Roman" panose="02020603050405020304" pitchFamily="18" charset="0"/>
              </a:rPr>
              <a:t>Kurum İçi Sınırsız Kullanım</a:t>
            </a:r>
            <a:r>
              <a:rPr lang="tr-TR" sz="1200" b="1">
                <a:solidFill>
                  <a:srgbClr val="000000"/>
                </a:solidFill>
                <a:latin typeface="Times New Roman" panose="02020603050405020304" pitchFamily="18" charset="0"/>
              </a:rPr>
              <a:t> / </a:t>
            </a:r>
            <a:r>
              <a:rPr lang="tr-TR" sz="1200" b="1">
                <a:solidFill>
                  <a:srgbClr val="00C000"/>
                </a:solidFill>
                <a:latin typeface="Times New Roman" panose="02020603050405020304" pitchFamily="18" charset="0"/>
              </a:rPr>
              <a:t>Kişisel Veri Değil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D25EF7-E2CB-4206-8F9C-152D553608E3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64510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 sz="1200" b="1">
                <a:solidFill>
                  <a:srgbClr val="0000FF"/>
                </a:solidFill>
                <a:latin typeface="Times New Roman" panose="02020603050405020304" pitchFamily="18" charset="0"/>
              </a:rPr>
              <a:t>Kurum İçi Sınırsız Kullanım</a:t>
            </a:r>
            <a:r>
              <a:rPr lang="tr-TR" sz="1200" b="1">
                <a:solidFill>
                  <a:srgbClr val="000000"/>
                </a:solidFill>
                <a:latin typeface="Times New Roman" panose="02020603050405020304" pitchFamily="18" charset="0"/>
              </a:rPr>
              <a:t> / </a:t>
            </a:r>
            <a:r>
              <a:rPr lang="tr-TR" sz="1200" b="1">
                <a:solidFill>
                  <a:srgbClr val="00C000"/>
                </a:solidFill>
                <a:latin typeface="Times New Roman" panose="02020603050405020304" pitchFamily="18" charset="0"/>
              </a:rPr>
              <a:t>Kişisel Veri Değil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FA722-50C1-4361-AF7F-BCA2769F8F6A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80558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 sz="1200" b="1">
                <a:solidFill>
                  <a:srgbClr val="0000FF"/>
                </a:solidFill>
                <a:latin typeface="Times New Roman" panose="02020603050405020304" pitchFamily="18" charset="0"/>
              </a:rPr>
              <a:t>Kurum İçi Sınırsız Kullanım</a:t>
            </a:r>
            <a:r>
              <a:rPr lang="tr-TR" sz="1200" b="1">
                <a:solidFill>
                  <a:srgbClr val="000000"/>
                </a:solidFill>
                <a:latin typeface="Times New Roman" panose="02020603050405020304" pitchFamily="18" charset="0"/>
              </a:rPr>
              <a:t> / </a:t>
            </a:r>
            <a:r>
              <a:rPr lang="tr-TR" sz="1200" b="1">
                <a:solidFill>
                  <a:srgbClr val="00C000"/>
                </a:solidFill>
                <a:latin typeface="Times New Roman" panose="02020603050405020304" pitchFamily="18" charset="0"/>
              </a:rPr>
              <a:t>Kişisel Veri Değil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FA722-50C1-4361-AF7F-BCA2769F8F6A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7021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 sz="1200" b="1">
                <a:solidFill>
                  <a:srgbClr val="0000FF"/>
                </a:solidFill>
                <a:latin typeface="Times New Roman" panose="02020603050405020304" pitchFamily="18" charset="0"/>
              </a:rPr>
              <a:t>Kurum İçi Sınırsız Kullanım</a:t>
            </a:r>
            <a:r>
              <a:rPr lang="tr-TR" sz="1200" b="1">
                <a:solidFill>
                  <a:srgbClr val="000000"/>
                </a:solidFill>
                <a:latin typeface="Times New Roman" panose="02020603050405020304" pitchFamily="18" charset="0"/>
              </a:rPr>
              <a:t> / </a:t>
            </a:r>
            <a:r>
              <a:rPr lang="tr-TR" sz="1200" b="1">
                <a:solidFill>
                  <a:srgbClr val="00C000"/>
                </a:solidFill>
                <a:latin typeface="Times New Roman" panose="02020603050405020304" pitchFamily="18" charset="0"/>
              </a:rPr>
              <a:t>Kişisel Veri Değil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FA722-50C1-4361-AF7F-BCA2769F8F6A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5691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 sz="1200" b="1">
                <a:solidFill>
                  <a:srgbClr val="0000FF"/>
                </a:solidFill>
                <a:latin typeface="Times New Roman" panose="02020603050405020304" pitchFamily="18" charset="0"/>
              </a:rPr>
              <a:t>Kurum İçi Sınırsız Kullanım</a:t>
            </a:r>
            <a:r>
              <a:rPr lang="tr-TR" sz="1200" b="1">
                <a:solidFill>
                  <a:srgbClr val="000000"/>
                </a:solidFill>
                <a:latin typeface="Times New Roman" panose="02020603050405020304" pitchFamily="18" charset="0"/>
              </a:rPr>
              <a:t> / </a:t>
            </a:r>
            <a:r>
              <a:rPr lang="tr-TR" sz="1200" b="1">
                <a:solidFill>
                  <a:srgbClr val="00C000"/>
                </a:solidFill>
                <a:latin typeface="Times New Roman" panose="02020603050405020304" pitchFamily="18" charset="0"/>
              </a:rPr>
              <a:t>Kişisel Veri Değil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FA722-50C1-4361-AF7F-BCA2769F8F6A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6876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 sz="1200" b="1">
                <a:solidFill>
                  <a:srgbClr val="0000FF"/>
                </a:solidFill>
                <a:latin typeface="Times New Roman" panose="02020603050405020304" pitchFamily="18" charset="0"/>
              </a:rPr>
              <a:t>Kurum İçi Sınırsız Kullanım</a:t>
            </a:r>
            <a:r>
              <a:rPr lang="tr-TR" sz="1200" b="1">
                <a:solidFill>
                  <a:srgbClr val="000000"/>
                </a:solidFill>
                <a:latin typeface="Times New Roman" panose="02020603050405020304" pitchFamily="18" charset="0"/>
              </a:rPr>
              <a:t> / </a:t>
            </a:r>
            <a:r>
              <a:rPr lang="tr-TR" sz="1200" b="1">
                <a:solidFill>
                  <a:srgbClr val="00C000"/>
                </a:solidFill>
                <a:latin typeface="Times New Roman" panose="02020603050405020304" pitchFamily="18" charset="0"/>
              </a:rPr>
              <a:t>Kişisel Veri Değil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FA722-50C1-4361-AF7F-BCA2769F8F6A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6236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 sz="1200" b="1">
                <a:solidFill>
                  <a:srgbClr val="0000FF"/>
                </a:solidFill>
                <a:latin typeface="Times New Roman" panose="02020603050405020304" pitchFamily="18" charset="0"/>
              </a:rPr>
              <a:t>Kurum İçi Sınırsız Kullanım</a:t>
            </a:r>
            <a:r>
              <a:rPr lang="tr-TR" sz="1200" b="1">
                <a:solidFill>
                  <a:srgbClr val="000000"/>
                </a:solidFill>
                <a:latin typeface="Times New Roman" panose="02020603050405020304" pitchFamily="18" charset="0"/>
              </a:rPr>
              <a:t> / </a:t>
            </a:r>
            <a:r>
              <a:rPr lang="tr-TR" sz="1200" b="1">
                <a:solidFill>
                  <a:srgbClr val="00C000"/>
                </a:solidFill>
                <a:latin typeface="Times New Roman" panose="02020603050405020304" pitchFamily="18" charset="0"/>
              </a:rPr>
              <a:t>Kişisel Veri Değil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FA722-50C1-4361-AF7F-BCA2769F8F6A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871069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 sz="1200" b="1">
                <a:solidFill>
                  <a:srgbClr val="0000FF"/>
                </a:solidFill>
                <a:latin typeface="Times New Roman" panose="02020603050405020304" pitchFamily="18" charset="0"/>
              </a:rPr>
              <a:t>Kurum İçi Sınırsız Kullanım</a:t>
            </a:r>
            <a:r>
              <a:rPr lang="tr-TR" sz="1200" b="1">
                <a:solidFill>
                  <a:srgbClr val="000000"/>
                </a:solidFill>
                <a:latin typeface="Times New Roman" panose="02020603050405020304" pitchFamily="18" charset="0"/>
              </a:rPr>
              <a:t> / </a:t>
            </a:r>
            <a:r>
              <a:rPr lang="tr-TR" sz="1200" b="1">
                <a:solidFill>
                  <a:srgbClr val="00C000"/>
                </a:solidFill>
                <a:latin typeface="Times New Roman" panose="02020603050405020304" pitchFamily="18" charset="0"/>
              </a:rPr>
              <a:t>Kişisel Veri Değil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2C566-0250-4CAF-B0DA-ABD9CF654899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493755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 sz="1200" b="1">
                <a:solidFill>
                  <a:srgbClr val="0000FF"/>
                </a:solidFill>
                <a:latin typeface="Times New Roman" panose="02020603050405020304" pitchFamily="18" charset="0"/>
              </a:rPr>
              <a:t>Kurum İçi Sınırsız Kullanım</a:t>
            </a:r>
            <a:r>
              <a:rPr lang="tr-TR" sz="1200" b="1">
                <a:solidFill>
                  <a:srgbClr val="000000"/>
                </a:solidFill>
                <a:latin typeface="Times New Roman" panose="02020603050405020304" pitchFamily="18" charset="0"/>
              </a:rPr>
              <a:t> / </a:t>
            </a:r>
            <a:r>
              <a:rPr lang="tr-TR" sz="1200" b="1">
                <a:solidFill>
                  <a:srgbClr val="00C000"/>
                </a:solidFill>
                <a:latin typeface="Times New Roman" panose="02020603050405020304" pitchFamily="18" charset="0"/>
              </a:rPr>
              <a:t>Kişisel Veri Değil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2C566-0250-4CAF-B0DA-ABD9CF654899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81718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75295-1D3E-4234-AC83-D32EAFF77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BA20F5-AEED-43A3-8AF1-28E5AF9EB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152BE-489B-491D-9F92-D16FCB91F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B098-550B-4135-B9F1-FE350F95E5BA}" type="datetimeFigureOut">
              <a:rPr lang="tr-TR" smtClean="0"/>
              <a:t>21.07.2025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96EF4-4B97-4871-8CB8-132F54723DE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>
            <a:lvl1pPr>
              <a:defRPr lang="tr-TR" sz="1200" b="1" i="0" u="none">
                <a:solidFill>
                  <a:srgbClr val="0000FF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tr-TR"/>
              <a:t>Kurum İçi Sınırsız Kullanım</a:t>
            </a:r>
            <a:r>
              <a:rPr lang="tr-TR">
                <a:solidFill>
                  <a:srgbClr val="000000"/>
                </a:solidFill>
              </a:rPr>
              <a:t> / </a:t>
            </a:r>
            <a:r>
              <a:rPr lang="tr-TR">
                <a:solidFill>
                  <a:srgbClr val="00C000"/>
                </a:solidFill>
              </a:rPr>
              <a:t>Kişisel Veri Değil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0454F-E77D-4718-BFDD-931DB4D54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42676-DDB1-49CA-B09F-0C2E8C14EC6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0378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3800-3B7C-486A-BBAC-3F910F13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059B0-EE31-4605-942C-085D59060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1EA6C-948F-4C99-8689-5257FD62B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B098-550B-4135-B9F1-FE350F95E5BA}" type="datetimeFigureOut">
              <a:rPr lang="tr-TR" smtClean="0"/>
              <a:t>21.07.2025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60153-40D4-4E7E-9964-5BA8F636ECA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>
            <a:lvl1pPr>
              <a:defRPr lang="tr-TR"/>
            </a:lvl1pPr>
          </a:lstStyle>
          <a:p>
            <a:r>
              <a:rPr lang="tr-TR" sz="1200">
                <a:solidFill>
                  <a:srgbClr val="0000FF"/>
                </a:solidFill>
                <a:latin typeface="Times New Roman" panose="02020603050405020304" pitchFamily="18" charset="0"/>
              </a:rPr>
              <a:t>Kurum İçi Sınırsız Kullanım</a:t>
            </a:r>
            <a:r>
              <a:rPr lang="tr-TR" sz="1200">
                <a:solidFill>
                  <a:srgbClr val="000000"/>
                </a:solidFill>
                <a:latin typeface="Times New Roman" panose="02020603050405020304" pitchFamily="18" charset="0"/>
              </a:rPr>
              <a:t> / </a:t>
            </a:r>
            <a:r>
              <a:rPr lang="tr-TR" sz="1200">
                <a:solidFill>
                  <a:srgbClr val="00C000"/>
                </a:solidFill>
                <a:latin typeface="Times New Roman" panose="02020603050405020304" pitchFamily="18" charset="0"/>
              </a:rPr>
              <a:t>Kişisel Veri Değil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7CC20-6A6F-49CE-8E51-24A12A6D9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42676-DDB1-49CA-B09F-0C2E8C14EC6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75649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94C8E-521F-411F-8F15-C4F8F3393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4FB98-612A-4D8E-BC16-139A23441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75E39-C567-41A6-913B-15388867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B098-550B-4135-B9F1-FE350F95E5BA}" type="datetimeFigureOut">
              <a:rPr lang="tr-TR" smtClean="0"/>
              <a:t>21.07.2025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A7020-6E6B-4774-BF21-A0BE005D1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56B52-CA53-4C6B-B30E-BFE6F21E6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42676-DDB1-49CA-B09F-0C2E8C14EC6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85019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82052-BCEA-46AC-9BB4-643F31835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B1AB9-5EA9-4A55-813F-AB524CC00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3ED276-27C2-4CA7-95DE-9684DD452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4573C-9FA0-4AE2-99F4-85ABF869E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B098-550B-4135-B9F1-FE350F95E5BA}" type="datetimeFigureOut">
              <a:rPr lang="tr-TR" smtClean="0"/>
              <a:t>21.07.2025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0978B-23B9-4876-8A7D-CF19E66E6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D34AA-1A2D-47B3-8AB6-8C3E03E06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42676-DDB1-49CA-B09F-0C2E8C14EC6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80855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7014B-FBB6-4E76-875D-01FD1A21E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9A306-65F6-4EA6-8662-D5EDEA977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E7BA9-DFE8-4F28-90EB-5A8FD0B23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2B79A-7DD7-4849-A9C6-0FC54DEC96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327DB1-10A7-42E6-962E-F114EF7296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FD7EDE-C3C8-4921-935E-886E882E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B098-550B-4135-B9F1-FE350F95E5BA}" type="datetimeFigureOut">
              <a:rPr lang="tr-TR" smtClean="0"/>
              <a:t>21.07.2025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36A72A-1BAD-4240-96AD-D41951F54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78DA51-48F3-471B-9546-D07F8CA1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42676-DDB1-49CA-B09F-0C2E8C14EC6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6479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273E7-BDD1-407B-9837-B1D5323C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144694-AAAD-4415-B32A-B791FF599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B098-550B-4135-B9F1-FE350F95E5BA}" type="datetimeFigureOut">
              <a:rPr lang="tr-TR" smtClean="0"/>
              <a:t>21.07.2025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7D3E16-1F09-444D-8FC7-394D0859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E160A-BF5A-4A28-98C8-A09C5AF3C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42676-DDB1-49CA-B09F-0C2E8C14EC6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5123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EF59AB-A2C0-48A8-ABC2-8BC20ADFD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B098-550B-4135-B9F1-FE350F95E5BA}" type="datetimeFigureOut">
              <a:rPr lang="tr-TR" smtClean="0"/>
              <a:t>21.07.2025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2542A5-3E2E-4432-B12B-559C5EF9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4FD4C-9EA5-4514-9C2A-5CFD4A7F7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42676-DDB1-49CA-B09F-0C2E8C14EC6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52741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4FD5D-5E0D-4A87-AA4C-19D682EF6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16042-2309-4B7F-BB35-E0528E12A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5C3F1-130A-49D3-A2B9-02C9EAD49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2AF34-5683-442D-851D-60AFE1EEA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B098-550B-4135-B9F1-FE350F95E5BA}" type="datetimeFigureOut">
              <a:rPr lang="tr-TR" smtClean="0"/>
              <a:t>21.07.2025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967D3-1310-4D85-A960-BCBD3369D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F342F-6AD8-4FE9-9CC9-7D2651F5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42676-DDB1-49CA-B09F-0C2E8C14EC6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29246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A3F5E-C625-4C5F-BB80-729AF939A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B2EEFF-A5F5-43F9-8010-37B75CCCA6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F7E158-7E6F-453E-91DF-CFCF1BFC5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45C1E-10BA-40D5-B12C-9F035E0AE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B098-550B-4135-B9F1-FE350F95E5BA}" type="datetimeFigureOut">
              <a:rPr lang="tr-TR" smtClean="0"/>
              <a:t>21.07.2025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4A7F6-2876-49F2-A559-EC31E6992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B79A7-7BC0-4082-A9BC-B6B4EB66F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42676-DDB1-49CA-B09F-0C2E8C14EC6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59016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37B55-DB46-4E62-8258-A6E38848A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C5A399-0C2B-4C11-AECD-6AEFC68C0E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6E646-A154-4BCB-81BB-AF3CE2666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B098-550B-4135-B9F1-FE350F95E5BA}" type="datetimeFigureOut">
              <a:rPr lang="tr-TR" smtClean="0"/>
              <a:t>21.07.2025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55F6F-579D-4D27-B382-0CE8FD31B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6D20E-00A4-4E97-BBAF-46C9CEB03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42676-DDB1-49CA-B09F-0C2E8C14EC6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8074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190E4E-8522-4AFF-8633-6500097CC6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7047AF-5F8B-4E10-A617-0794CCFB4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312EE-E915-49E6-B75E-B1588B98F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CB098-550B-4135-B9F1-FE350F95E5BA}" type="datetimeFigureOut">
              <a:rPr lang="tr-TR" smtClean="0"/>
              <a:t>21.07.2025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9AE0C-77F9-4528-9C91-A0A6F92C5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32854-251B-4194-A0EB-52BE7CF80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42676-DDB1-49CA-B09F-0C2E8C14EC6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50096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F4910-0C08-4AF1-BC6D-95A97569F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6A3EC-6EF7-428D-B0C7-BE76F5D92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BDB3E-690F-4814-B7FC-0BBA3C1DD9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CB098-550B-4135-B9F1-FE350F95E5BA}" type="datetimeFigureOut">
              <a:rPr lang="tr-TR" smtClean="0"/>
              <a:t>21.07.2025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96ED7-C6BB-4A5F-AD1A-80B58ABB787A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0" y="6356350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tr-TR"/>
            </a:lvl1pPr>
          </a:lstStyle>
          <a:p>
            <a:r>
              <a:rPr lang="tr-TR" sz="1200">
                <a:solidFill>
                  <a:srgbClr val="0000FF"/>
                </a:solidFill>
                <a:latin typeface="Times New Roman" panose="02020603050405020304" pitchFamily="18" charset="0"/>
              </a:rPr>
              <a:t>Kurum İçi Sınırsız Kullanım</a:t>
            </a:r>
            <a:r>
              <a:rPr lang="tr-TR" sz="1200">
                <a:solidFill>
                  <a:srgbClr val="000000"/>
                </a:solidFill>
                <a:latin typeface="Times New Roman" panose="02020603050405020304" pitchFamily="18" charset="0"/>
              </a:rPr>
              <a:t> / </a:t>
            </a:r>
            <a:r>
              <a:rPr lang="tr-TR" sz="1200">
                <a:solidFill>
                  <a:srgbClr val="00C000"/>
                </a:solidFill>
                <a:latin typeface="Times New Roman" panose="02020603050405020304" pitchFamily="18" charset="0"/>
              </a:rPr>
              <a:t>Kişisel Veri Değil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E040F-C8B9-4CD3-AAFC-F3FAA7AF2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42676-DDB1-49CA-B09F-0C2E8C14EC6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4906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7EC85D6-58FE-4265-BA34-4F8DFBC1C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327" y="159851"/>
            <a:ext cx="10515600" cy="1325563"/>
          </a:xfrm>
        </p:spPr>
        <p:txBody>
          <a:bodyPr/>
          <a:lstStyle/>
          <a:p>
            <a:r>
              <a:rPr lang="tr-TR" dirty="0"/>
              <a:t>	Kredi Hesaplama Web Uygulaması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E5B4EE7-87BD-45DD-AAA5-26B30A1B1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078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tr-TR" dirty="0"/>
              <a:t>Kredi Hesaplama uygulaması kullanıcıların kredi tutarı ve vade tutarlarına  göre aylık ödeme miktarını hesaplamayı ve ödeme planını(itfa) hesaplamayı amaçlar.</a:t>
            </a:r>
          </a:p>
          <a:p>
            <a:r>
              <a:rPr lang="tr-TR" dirty="0"/>
              <a:t>Kredi hesaplaması yapılabilmesi için önceden faiz </a:t>
            </a:r>
            <a:r>
              <a:rPr lang="tr-TR" dirty="0" err="1"/>
              <a:t>oranı,kredi</a:t>
            </a:r>
            <a:r>
              <a:rPr lang="tr-TR" dirty="0"/>
              <a:t> tutar aralığı ve vade aralığı belirlenmiş ürün tanımlarının olması gerekmektedir.</a:t>
            </a:r>
          </a:p>
          <a:p>
            <a:r>
              <a:rPr lang="tr-TR" dirty="0"/>
              <a:t>Seçilen ürün üzerinden kredi tutarı ve vade miktarına göre hesaplama yapılacaktır.(İhtiyaç </a:t>
            </a:r>
            <a:r>
              <a:rPr lang="tr-TR" dirty="0" err="1"/>
              <a:t>kredisi,konut</a:t>
            </a:r>
            <a:r>
              <a:rPr lang="tr-TR" dirty="0"/>
              <a:t> vb.)</a:t>
            </a:r>
          </a:p>
          <a:p>
            <a:r>
              <a:rPr lang="tr-TR" dirty="0"/>
              <a:t>Her yapılan hesaplama </a:t>
            </a:r>
            <a:r>
              <a:rPr lang="tr-TR" dirty="0" err="1"/>
              <a:t>veritabanında</a:t>
            </a:r>
            <a:r>
              <a:rPr lang="tr-TR" dirty="0"/>
              <a:t> yer alacak ve hesaplama yapılan </a:t>
            </a:r>
            <a:r>
              <a:rPr lang="tr-TR" dirty="0" err="1"/>
              <a:t>ürün,vade,faiz</a:t>
            </a:r>
            <a:r>
              <a:rPr lang="tr-TR" dirty="0"/>
              <a:t> oranları raporlanabilir hale getirilecektir.</a:t>
            </a:r>
          </a:p>
          <a:p>
            <a:r>
              <a:rPr lang="tr-TR" dirty="0"/>
              <a:t>Hesaplanan aylık ödeme ile bir ödeme planı oluşturulmakta ve kullanıcılara bilgi amaçlı sunulmaktadır. </a:t>
            </a:r>
          </a:p>
          <a:p>
            <a:r>
              <a:rPr lang="tr-TR" dirty="0" err="1"/>
              <a:t>Log</a:t>
            </a:r>
            <a:r>
              <a:rPr lang="tr-TR" dirty="0"/>
              <a:t> yapısının kurulması</a:t>
            </a:r>
          </a:p>
          <a:p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C7E03A07-38A8-4FBF-B53F-AB34ADD9D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8269" y="495786"/>
            <a:ext cx="752475" cy="790575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59E6E45-D2D8-40E4-A6C7-C9AC440FB75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 sz="1200">
                <a:solidFill>
                  <a:srgbClr val="0000FF"/>
                </a:solidFill>
                <a:latin typeface="Times New Roman" panose="02020603050405020304" pitchFamily="18" charset="0"/>
              </a:rPr>
              <a:t>Kurum İçi Sınırsız Kullanım</a:t>
            </a:r>
            <a:r>
              <a:rPr lang="tr-TR" sz="1200">
                <a:solidFill>
                  <a:srgbClr val="000000"/>
                </a:solidFill>
                <a:latin typeface="Times New Roman" panose="02020603050405020304" pitchFamily="18" charset="0"/>
              </a:rPr>
              <a:t> / </a:t>
            </a:r>
            <a:r>
              <a:rPr lang="tr-TR" sz="1200">
                <a:solidFill>
                  <a:srgbClr val="00C000"/>
                </a:solidFill>
                <a:latin typeface="Times New Roman" panose="02020603050405020304" pitchFamily="18" charset="0"/>
              </a:rPr>
              <a:t>Kişisel Veri Değil</a:t>
            </a:r>
          </a:p>
        </p:txBody>
      </p:sp>
    </p:spTree>
    <p:extLst>
      <p:ext uri="{BB962C8B-B14F-4D97-AF65-F5344CB8AC3E}">
        <p14:creationId xmlns:p14="http://schemas.microsoft.com/office/powerpoint/2010/main" val="2262748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179A47A-F115-9E6C-574A-3987CEB75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9" y="-240965"/>
            <a:ext cx="10895106" cy="1325563"/>
          </a:xfrm>
        </p:spPr>
        <p:txBody>
          <a:bodyPr/>
          <a:lstStyle/>
          <a:p>
            <a:r>
              <a:rPr lang="tr-TR" dirty="0"/>
              <a:t>Kredi Hesaplama Web Uygulaması</a:t>
            </a:r>
          </a:p>
        </p:txBody>
      </p:sp>
      <p:pic>
        <p:nvPicPr>
          <p:cNvPr id="6" name="İçerik Yer Tutucusu 5">
            <a:extLst>
              <a:ext uri="{FF2B5EF4-FFF2-40B4-BE49-F238E27FC236}">
                <a16:creationId xmlns:a16="http://schemas.microsoft.com/office/drawing/2014/main" id="{5A87AFC3-283C-0736-BFBF-D4F29B5251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611087" y="1084598"/>
            <a:ext cx="9550884" cy="5128626"/>
          </a:xfrm>
        </p:spPr>
      </p:pic>
      <p:pic>
        <p:nvPicPr>
          <p:cNvPr id="4" name="Resim 3" descr="metin, küçük resim içeren bir resim&#10;&#10;Açıklama otomatik olarak oluşturuldu">
            <a:extLst>
              <a:ext uri="{FF2B5EF4-FFF2-40B4-BE49-F238E27FC236}">
                <a16:creationId xmlns:a16="http://schemas.microsoft.com/office/drawing/2014/main" id="{9678F82D-2D5B-4CBD-10DD-55EE95CA50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74184"/>
            <a:ext cx="1831875" cy="549562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09C6F95-B577-4B58-9796-D89F06BDB9F7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 sz="1200">
                <a:solidFill>
                  <a:srgbClr val="0000FF"/>
                </a:solidFill>
                <a:latin typeface="Times New Roman" panose="02020603050405020304" pitchFamily="18" charset="0"/>
              </a:rPr>
              <a:t>Kurum İçi Sınırsız Kullanım</a:t>
            </a:r>
            <a:r>
              <a:rPr lang="tr-TR" sz="1200">
                <a:solidFill>
                  <a:srgbClr val="000000"/>
                </a:solidFill>
                <a:latin typeface="Times New Roman" panose="02020603050405020304" pitchFamily="18" charset="0"/>
              </a:rPr>
              <a:t> / </a:t>
            </a:r>
            <a:r>
              <a:rPr lang="tr-TR" sz="1200">
                <a:solidFill>
                  <a:srgbClr val="00C000"/>
                </a:solidFill>
                <a:latin typeface="Times New Roman" panose="02020603050405020304" pitchFamily="18" charset="0"/>
              </a:rPr>
              <a:t>Kişisel Veri Değil</a:t>
            </a:r>
          </a:p>
        </p:txBody>
      </p:sp>
    </p:spTree>
    <p:extLst>
      <p:ext uri="{BB962C8B-B14F-4D97-AF65-F5344CB8AC3E}">
        <p14:creationId xmlns:p14="http://schemas.microsoft.com/office/powerpoint/2010/main" val="4152751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 descr="metin, küçük resim içeren bir resim&#10;&#10;Açıklama otomatik olarak oluşturuldu">
            <a:extLst>
              <a:ext uri="{FF2B5EF4-FFF2-40B4-BE49-F238E27FC236}">
                <a16:creationId xmlns:a16="http://schemas.microsoft.com/office/drawing/2014/main" id="{9678F82D-2D5B-4CBD-10DD-55EE95CA50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74184"/>
            <a:ext cx="1831875" cy="549562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DD16CB9F-43FB-43CC-256F-3D3B29A920D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710" r="1031" b="1813"/>
          <a:stretch/>
        </p:blipFill>
        <p:spPr>
          <a:xfrm>
            <a:off x="2879345" y="185392"/>
            <a:ext cx="6051206" cy="6487216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45213C-EAF6-4FF7-B303-1F451E8258D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 sz="1200">
                <a:solidFill>
                  <a:srgbClr val="0000FF"/>
                </a:solidFill>
                <a:latin typeface="Times New Roman" panose="02020603050405020304" pitchFamily="18" charset="0"/>
              </a:rPr>
              <a:t>Kurum İçi Sınırsız Kullanım</a:t>
            </a:r>
            <a:r>
              <a:rPr lang="tr-TR" sz="1200">
                <a:solidFill>
                  <a:srgbClr val="000000"/>
                </a:solidFill>
                <a:latin typeface="Times New Roman" panose="02020603050405020304" pitchFamily="18" charset="0"/>
              </a:rPr>
              <a:t> / </a:t>
            </a:r>
            <a:r>
              <a:rPr lang="tr-TR" sz="1200">
                <a:solidFill>
                  <a:srgbClr val="00C000"/>
                </a:solidFill>
                <a:latin typeface="Times New Roman" panose="02020603050405020304" pitchFamily="18" charset="0"/>
              </a:rPr>
              <a:t>Kişisel Veri Değil</a:t>
            </a:r>
          </a:p>
        </p:txBody>
      </p:sp>
    </p:spTree>
    <p:extLst>
      <p:ext uri="{BB962C8B-B14F-4D97-AF65-F5344CB8AC3E}">
        <p14:creationId xmlns:p14="http://schemas.microsoft.com/office/powerpoint/2010/main" val="1832525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179A47A-F115-9E6C-574A-3987CEB75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6904"/>
            <a:ext cx="10895106" cy="1325563"/>
          </a:xfrm>
        </p:spPr>
        <p:txBody>
          <a:bodyPr/>
          <a:lstStyle/>
          <a:p>
            <a:r>
              <a:rPr lang="tr-TR" dirty="0"/>
              <a:t>Kredi Başvuru Sayfası</a:t>
            </a:r>
          </a:p>
        </p:txBody>
      </p:sp>
      <p:pic>
        <p:nvPicPr>
          <p:cNvPr id="6" name="İçerik Yer Tutucusu 5">
            <a:extLst>
              <a:ext uri="{FF2B5EF4-FFF2-40B4-BE49-F238E27FC236}">
                <a16:creationId xmlns:a16="http://schemas.microsoft.com/office/drawing/2014/main" id="{45EEA488-0EA0-34A6-309E-313D9E2BE5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546083" y="1062865"/>
            <a:ext cx="9498846" cy="5115525"/>
          </a:xfrm>
        </p:spPr>
      </p:pic>
      <p:pic>
        <p:nvPicPr>
          <p:cNvPr id="4" name="Resim 3" descr="metin, küçük resim içeren bir resim&#10;&#10;Açıklama otomatik olarak oluşturuldu">
            <a:extLst>
              <a:ext uri="{FF2B5EF4-FFF2-40B4-BE49-F238E27FC236}">
                <a16:creationId xmlns:a16="http://schemas.microsoft.com/office/drawing/2014/main" id="{9678F82D-2D5B-4CBD-10DD-55EE95CA50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74184"/>
            <a:ext cx="1831875" cy="549562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2B562CA-E5F5-4EE7-8427-2A0F7AF190DA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 sz="1200">
                <a:solidFill>
                  <a:srgbClr val="0000FF"/>
                </a:solidFill>
                <a:latin typeface="Times New Roman" panose="02020603050405020304" pitchFamily="18" charset="0"/>
              </a:rPr>
              <a:t>Kurum İçi Sınırsız Kullanım</a:t>
            </a:r>
            <a:r>
              <a:rPr lang="tr-TR" sz="1200">
                <a:solidFill>
                  <a:srgbClr val="000000"/>
                </a:solidFill>
                <a:latin typeface="Times New Roman" panose="02020603050405020304" pitchFamily="18" charset="0"/>
              </a:rPr>
              <a:t> / </a:t>
            </a:r>
            <a:r>
              <a:rPr lang="tr-TR" sz="1200">
                <a:solidFill>
                  <a:srgbClr val="00C000"/>
                </a:solidFill>
                <a:latin typeface="Times New Roman" panose="02020603050405020304" pitchFamily="18" charset="0"/>
              </a:rPr>
              <a:t>Kişisel Veri Değil</a:t>
            </a:r>
          </a:p>
        </p:txBody>
      </p:sp>
    </p:spTree>
    <p:extLst>
      <p:ext uri="{BB962C8B-B14F-4D97-AF65-F5344CB8AC3E}">
        <p14:creationId xmlns:p14="http://schemas.microsoft.com/office/powerpoint/2010/main" val="276577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179A47A-F115-9E6C-574A-3987CEB75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1074"/>
            <a:ext cx="10895106" cy="1325563"/>
          </a:xfrm>
        </p:spPr>
        <p:txBody>
          <a:bodyPr/>
          <a:lstStyle/>
          <a:p>
            <a:r>
              <a:rPr lang="tr-TR" dirty="0"/>
              <a:t>Kredi Başvuru:</a:t>
            </a:r>
          </a:p>
        </p:txBody>
      </p:sp>
      <p:pic>
        <p:nvPicPr>
          <p:cNvPr id="6" name="İçerik Yer Tutucusu 5">
            <a:extLst>
              <a:ext uri="{FF2B5EF4-FFF2-40B4-BE49-F238E27FC236}">
                <a16:creationId xmlns:a16="http://schemas.microsoft.com/office/drawing/2014/main" id="{1E872A40-CCB9-E84E-4FFE-35533BFE3C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560443" y="951468"/>
            <a:ext cx="9660835" cy="5213625"/>
          </a:xfrm>
        </p:spPr>
      </p:pic>
      <p:pic>
        <p:nvPicPr>
          <p:cNvPr id="4" name="Resim 3" descr="metin, küçük resim içeren bir resim&#10;&#10;Açıklama otomatik olarak oluşturuldu">
            <a:extLst>
              <a:ext uri="{FF2B5EF4-FFF2-40B4-BE49-F238E27FC236}">
                <a16:creationId xmlns:a16="http://schemas.microsoft.com/office/drawing/2014/main" id="{9678F82D-2D5B-4CBD-10DD-55EE95CA50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74184"/>
            <a:ext cx="1831875" cy="549562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E5F0B01-22DD-4376-9D89-050646D87537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 sz="1200">
                <a:solidFill>
                  <a:srgbClr val="0000FF"/>
                </a:solidFill>
                <a:latin typeface="Times New Roman" panose="02020603050405020304" pitchFamily="18" charset="0"/>
              </a:rPr>
              <a:t>Kurum İçi Sınırsız Kullanım</a:t>
            </a:r>
            <a:r>
              <a:rPr lang="tr-TR" sz="1200">
                <a:solidFill>
                  <a:srgbClr val="000000"/>
                </a:solidFill>
                <a:latin typeface="Times New Roman" panose="02020603050405020304" pitchFamily="18" charset="0"/>
              </a:rPr>
              <a:t> / </a:t>
            </a:r>
            <a:r>
              <a:rPr lang="tr-TR" sz="1200">
                <a:solidFill>
                  <a:srgbClr val="00C000"/>
                </a:solidFill>
                <a:latin typeface="Times New Roman" panose="02020603050405020304" pitchFamily="18" charset="0"/>
              </a:rPr>
              <a:t>Kişisel Veri Değil</a:t>
            </a:r>
          </a:p>
        </p:txBody>
      </p:sp>
    </p:spTree>
    <p:extLst>
      <p:ext uri="{BB962C8B-B14F-4D97-AF65-F5344CB8AC3E}">
        <p14:creationId xmlns:p14="http://schemas.microsoft.com/office/powerpoint/2010/main" val="2131166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179A47A-F115-9E6C-574A-3987CEB75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94346"/>
            <a:ext cx="10895106" cy="1325563"/>
          </a:xfrm>
        </p:spPr>
        <p:txBody>
          <a:bodyPr/>
          <a:lstStyle/>
          <a:p>
            <a:r>
              <a:rPr lang="tr-TR" dirty="0"/>
              <a:t>Kredi Başvurusu Alındı.</a:t>
            </a:r>
          </a:p>
        </p:txBody>
      </p:sp>
      <p:pic>
        <p:nvPicPr>
          <p:cNvPr id="6" name="İçerik Yer Tutucusu 5">
            <a:extLst>
              <a:ext uri="{FF2B5EF4-FFF2-40B4-BE49-F238E27FC236}">
                <a16:creationId xmlns:a16="http://schemas.microsoft.com/office/drawing/2014/main" id="{9746AAF8-92CA-6BB5-1D32-4738433732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649895" y="1086545"/>
            <a:ext cx="9644270" cy="5187639"/>
          </a:xfrm>
        </p:spPr>
      </p:pic>
      <p:pic>
        <p:nvPicPr>
          <p:cNvPr id="4" name="Resim 3" descr="metin, küçük resim içeren bir resim&#10;&#10;Açıklama otomatik olarak oluşturuldu">
            <a:extLst>
              <a:ext uri="{FF2B5EF4-FFF2-40B4-BE49-F238E27FC236}">
                <a16:creationId xmlns:a16="http://schemas.microsoft.com/office/drawing/2014/main" id="{9678F82D-2D5B-4CBD-10DD-55EE95CA50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74184"/>
            <a:ext cx="1831875" cy="549562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5F16E3E-D63E-47D2-BEBE-231A586201A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 sz="1200">
                <a:solidFill>
                  <a:srgbClr val="0000FF"/>
                </a:solidFill>
                <a:latin typeface="Times New Roman" panose="02020603050405020304" pitchFamily="18" charset="0"/>
              </a:rPr>
              <a:t>Kurum İçi Sınırsız Kullanım</a:t>
            </a:r>
            <a:r>
              <a:rPr lang="tr-TR" sz="1200">
                <a:solidFill>
                  <a:srgbClr val="000000"/>
                </a:solidFill>
                <a:latin typeface="Times New Roman" panose="02020603050405020304" pitchFamily="18" charset="0"/>
              </a:rPr>
              <a:t> / </a:t>
            </a:r>
            <a:r>
              <a:rPr lang="tr-TR" sz="1200">
                <a:solidFill>
                  <a:srgbClr val="00C000"/>
                </a:solidFill>
                <a:latin typeface="Times New Roman" panose="02020603050405020304" pitchFamily="18" charset="0"/>
              </a:rPr>
              <a:t>Kişisel Veri Değil</a:t>
            </a:r>
          </a:p>
        </p:txBody>
      </p:sp>
    </p:spTree>
    <p:extLst>
      <p:ext uri="{BB962C8B-B14F-4D97-AF65-F5344CB8AC3E}">
        <p14:creationId xmlns:p14="http://schemas.microsoft.com/office/powerpoint/2010/main" val="3032305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1DCB1DE-DE31-A9F4-9436-FD4032174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895106" cy="1325563"/>
          </a:xfrm>
        </p:spPr>
        <p:txBody>
          <a:bodyPr/>
          <a:lstStyle/>
          <a:p>
            <a:r>
              <a:rPr lang="tr-TR" dirty="0"/>
              <a:t>Kredi Başvurusu </a:t>
            </a:r>
            <a:r>
              <a:rPr lang="tr-TR" dirty="0" err="1"/>
              <a:t>Veritabanında</a:t>
            </a:r>
            <a:r>
              <a:rPr lang="tr-TR" dirty="0"/>
              <a:t>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74562-5AE6-4666-8812-BEDF98D7F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2BD558-36D6-4E5C-9343-7EAF01CCA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412626"/>
            <a:ext cx="10394576" cy="2247900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A4DEFA8-B2CE-4CBD-9A86-F702C398F44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 sz="1200">
                <a:solidFill>
                  <a:srgbClr val="0000FF"/>
                </a:solidFill>
                <a:latin typeface="Times New Roman" panose="02020603050405020304" pitchFamily="18" charset="0"/>
              </a:rPr>
              <a:t>Kurum İçi Sınırsız Kullanım</a:t>
            </a:r>
            <a:r>
              <a:rPr lang="tr-TR" sz="1200">
                <a:solidFill>
                  <a:srgbClr val="000000"/>
                </a:solidFill>
                <a:latin typeface="Times New Roman" panose="02020603050405020304" pitchFamily="18" charset="0"/>
              </a:rPr>
              <a:t> / </a:t>
            </a:r>
            <a:r>
              <a:rPr lang="tr-TR" sz="1200">
                <a:solidFill>
                  <a:srgbClr val="00C000"/>
                </a:solidFill>
                <a:latin typeface="Times New Roman" panose="02020603050405020304" pitchFamily="18" charset="0"/>
              </a:rPr>
              <a:t>Kişisel Veri Değil</a:t>
            </a:r>
          </a:p>
        </p:txBody>
      </p:sp>
    </p:spTree>
    <p:extLst>
      <p:ext uri="{BB962C8B-B14F-4D97-AF65-F5344CB8AC3E}">
        <p14:creationId xmlns:p14="http://schemas.microsoft.com/office/powerpoint/2010/main" val="3932137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B52E2FE-FBDA-D623-607F-03A04496D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281" y="1850810"/>
            <a:ext cx="7173487" cy="25101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tr-TR" dirty="0" err="1"/>
              <a:t>Frontend</a:t>
            </a:r>
            <a:br>
              <a:rPr lang="tr-TR" dirty="0"/>
            </a:br>
            <a:br>
              <a:rPr lang="tr-TR" dirty="0"/>
            </a:br>
            <a:r>
              <a:rPr lang="tr-TR" dirty="0" err="1"/>
              <a:t>Angular</a:t>
            </a:r>
            <a:endParaRPr lang="en-US" dirty="0"/>
          </a:p>
        </p:txBody>
      </p:sp>
      <p:pic>
        <p:nvPicPr>
          <p:cNvPr id="4" name="Resim 3" descr="metin, küçük resim içeren bir resim&#10;&#10;Açıklama otomatik olarak oluşturuldu">
            <a:extLst>
              <a:ext uri="{FF2B5EF4-FFF2-40B4-BE49-F238E27FC236}">
                <a16:creationId xmlns:a16="http://schemas.microsoft.com/office/drawing/2014/main" id="{D4B8ED1E-82DE-1516-2A30-5600168132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08438"/>
            <a:ext cx="1831875" cy="549562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DAA00A-7465-4582-BC78-68BD7FB0806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 sz="1200">
                <a:solidFill>
                  <a:srgbClr val="0000FF"/>
                </a:solidFill>
                <a:latin typeface="Times New Roman" panose="02020603050405020304" pitchFamily="18" charset="0"/>
              </a:rPr>
              <a:t>Kurum İçi Sınırsız Kullanım</a:t>
            </a:r>
            <a:r>
              <a:rPr lang="tr-TR" sz="1200">
                <a:solidFill>
                  <a:srgbClr val="000000"/>
                </a:solidFill>
                <a:latin typeface="Times New Roman" panose="02020603050405020304" pitchFamily="18" charset="0"/>
              </a:rPr>
              <a:t> / </a:t>
            </a:r>
            <a:r>
              <a:rPr lang="tr-TR" sz="1200">
                <a:solidFill>
                  <a:srgbClr val="00C000"/>
                </a:solidFill>
                <a:latin typeface="Times New Roman" panose="02020603050405020304" pitchFamily="18" charset="0"/>
              </a:rPr>
              <a:t>Kişisel Veri Değil</a:t>
            </a:r>
          </a:p>
        </p:txBody>
      </p:sp>
    </p:spTree>
    <p:extLst>
      <p:ext uri="{BB962C8B-B14F-4D97-AF65-F5344CB8AC3E}">
        <p14:creationId xmlns:p14="http://schemas.microsoft.com/office/powerpoint/2010/main" val="2722595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B52E2FE-FBDA-D623-607F-03A04496D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281" y="1850810"/>
            <a:ext cx="7173487" cy="35274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tr-TR" dirty="0" err="1"/>
              <a:t>Backend</a:t>
            </a:r>
            <a:br>
              <a:rPr lang="tr-TR" dirty="0"/>
            </a:br>
            <a:br>
              <a:rPr lang="tr-TR" dirty="0"/>
            </a:br>
            <a:r>
              <a:rPr lang="tr-TR" dirty="0"/>
              <a:t>.Net </a:t>
            </a:r>
            <a:r>
              <a:rPr lang="tr-TR" dirty="0" err="1"/>
              <a:t>Core</a:t>
            </a:r>
            <a:r>
              <a:rPr lang="tr-TR" dirty="0"/>
              <a:t> Web </a:t>
            </a:r>
            <a:r>
              <a:rPr lang="tr-TR" dirty="0" err="1"/>
              <a:t>Api</a:t>
            </a:r>
            <a:br>
              <a:rPr lang="tr-TR" dirty="0"/>
            </a:br>
            <a:br>
              <a:rPr lang="tr-TR" dirty="0"/>
            </a:br>
            <a:endParaRPr lang="en-US" dirty="0"/>
          </a:p>
        </p:txBody>
      </p:sp>
      <p:pic>
        <p:nvPicPr>
          <p:cNvPr id="4" name="Resim 3" descr="metin, küçük resim içeren bir resim&#10;&#10;Açıklama otomatik olarak oluşturuldu">
            <a:extLst>
              <a:ext uri="{FF2B5EF4-FFF2-40B4-BE49-F238E27FC236}">
                <a16:creationId xmlns:a16="http://schemas.microsoft.com/office/drawing/2014/main" id="{D4B8ED1E-82DE-1516-2A30-5600168132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74184"/>
            <a:ext cx="1831875" cy="549562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BFC5B2-4179-4963-AC7A-21E17602A921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 sz="1200">
                <a:solidFill>
                  <a:srgbClr val="0000FF"/>
                </a:solidFill>
                <a:latin typeface="Times New Roman" panose="02020603050405020304" pitchFamily="18" charset="0"/>
              </a:rPr>
              <a:t>Kurum İçi Sınırsız Kullanım</a:t>
            </a:r>
            <a:r>
              <a:rPr lang="tr-TR" sz="1200">
                <a:solidFill>
                  <a:srgbClr val="000000"/>
                </a:solidFill>
                <a:latin typeface="Times New Roman" panose="02020603050405020304" pitchFamily="18" charset="0"/>
              </a:rPr>
              <a:t> / </a:t>
            </a:r>
            <a:r>
              <a:rPr lang="tr-TR" sz="1200">
                <a:solidFill>
                  <a:srgbClr val="00C000"/>
                </a:solidFill>
                <a:latin typeface="Times New Roman" panose="02020603050405020304" pitchFamily="18" charset="0"/>
              </a:rPr>
              <a:t>Kişisel Veri Değil</a:t>
            </a:r>
          </a:p>
        </p:txBody>
      </p:sp>
    </p:spTree>
    <p:extLst>
      <p:ext uri="{BB962C8B-B14F-4D97-AF65-F5344CB8AC3E}">
        <p14:creationId xmlns:p14="http://schemas.microsoft.com/office/powerpoint/2010/main" val="4103625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Kurum İçi Sınırsız Kullanım / Kişisel Veri Değil"/>
  <p:tag name="BJHEADERFOOTERTEXTMARKING" val="Kurum İçi Sınırsız Kullanım / Kişisel Veri Deği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Kurum İçi Sınırsız Kullanım / Kişisel Veri Değil"/>
  <p:tag name="BJHEADERFOOTERTEXTMARKING" val="Kurum İçi Sınırsız Kullanım / Kişisel Veri Deği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Kurum İçi Sınırsız Kullanım / Kişisel Veri Değil"/>
  <p:tag name="BJHEADERFOOTERTEXTMARKING" val="Kurum İçi Sınırsız Kullanım / Kişisel Veri Deği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Kurum İçi Sınırsız Kullanım / Kişisel Veri Değil"/>
  <p:tag name="BJHEADERFOOTERTEXTMARKING" val="Kurum İçi Sınırsız Kullanım / Kişisel Veri Deği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Kurum İçi Sınırsız Kullanım / Kişisel Veri Değil"/>
  <p:tag name="BJHEADERFOOTERTEXTMARKING" val="Kurum İçi Sınırsız Kullanım / Kişisel Veri Deği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Kurum İçi Sınırsız Kullanım / Kişisel Veri Değil"/>
  <p:tag name="BJHEADERFOOTERTEXTMARKING" val="Kurum İçi Sınırsız Kullanım / Kişisel Veri Deği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Kurum İçi Sınırsız Kullanım / Kişisel Veri Değil"/>
  <p:tag name="BJHEADERFOOTERTEXTMARKING" val="Kurum İçi Sınırsız Kullanım / Kişisel Veri Deği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Kurum İçi Sınırsız Kullanım / Kişisel Veri Değil"/>
  <p:tag name="BJHEADERFOOTERTEXTMARKING" val="Kurum İçi Sınırsız Kullanım / Kişisel Veri Deği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Kurum İçi Sınırsız Kullanım / Kişisel Veri Değil"/>
  <p:tag name="BJHEADERFOOTERTEXTMARKING" val="Kurum İçi Sınırsız Kullanım / Kişisel Veri Deği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Kurum İçi Sınırsız Kullanım / Kişisel Veri Değil"/>
  <p:tag name="BJHEADERFOOTERTEXTMARKING" val="Kurum İçi Sınırsız Kullanım / Kişisel Veri Deği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Kurum İçi Sınırsız Kullanım / Kişisel Veri Değil"/>
  <p:tag name="BJHEADERFOOTERTEXTMARKING" val="Kurum İçi Sınırsız Kullanım / Kişisel Veri Deği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Kurum İçi Sınırsız Kullanım / Kişisel Veri Değil"/>
  <p:tag name="BJHEADERFOOTERTEXTMARKING" val="Kurum İçi Sınırsız Kullanım / Kişisel Veri Deği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Kurum İçi Sınırsız Kullanım / Kişisel Veri Değil"/>
  <p:tag name="BJHEADERFOOTERTEXTMARKING" val="Kurum İçi Sınırsız Kullanım / Kişisel Veri Deği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Kurum İçi Sınırsız Kullanım / Kişisel Veri Değil"/>
  <p:tag name="BJHEADERFOOTERTEXTMARKING" val="Kurum İçi Sınırsız Kullanım / Kişisel Veri Deği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Kurum İçi Sınırsız Kullanım / Kişisel Veri Değil"/>
  <p:tag name="BJHEADERFOOTERTEXTMARKING" val="Kurum İçi Sınırsız Kullanım / Kişisel Veri Deği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Kurum İçi Sınırsız Kullanım / Kişisel Veri Değil"/>
  <p:tag name="BJHEADERFOOTERTEXTMARKING" val="Kurum İçi Sınırsız Kullanım / Kişisel Veri Deği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Kurum İçi Sınırsız Kullanım / Kişisel Veri Değil"/>
  <p:tag name="BJHEADERFOOTERTEXTMARKING" val="Kurum İçi Sınırsız Kullanım / Kişisel Veri Deği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Kurum İçi Sınırsız Kullanım / Kişisel Veri Değil"/>
  <p:tag name="BJHEADERFOOTERTEXTMARKING" val="Kurum İçi Sınırsız Kullanım / Kişisel Veri Deği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Kurum İçi Sınırsız Kullanım / Kişisel Veri Değil"/>
  <p:tag name="BJHEADERFOOTERTEXTMARKING" val="Kurum İçi Sınırsız Kullanım / Kişisel Veri Deği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Kurum İçi Sınırsız Kullanım / Kişisel Veri Değil"/>
  <p:tag name="BJHEADERFOOTERTEXTMARKING" val="Kurum İçi Sınırsız Kullanım / Kişisel Veri Deği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Kurum İçi Sınırsız Kullanım / Kişisel Veri Değil"/>
  <p:tag name="BJHEADERFOOTERTEXTMARKING" val="Kurum İçi Sınırsız Kullanım / Kişisel Veri Deği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Kurum İçi Sınırsız Kullanım / Kişisel Veri Değil"/>
  <p:tag name="BJHEADERFOOTERTEXTMARKING" val="Kurum İçi Sınırsız Kullanım / Kişisel Veri Deği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Kurum İçi Sınırsız Kullanım / Kişisel Veri Değil"/>
  <p:tag name="BJHEADERFOOTERTEXTMARKING" val="Kurum İçi Sınırsız Kullanım / Kişisel Veri Deği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bab714a6-9187-42f5-a4dd-542e816fcaf4" origin="defaultValue">
  <element uid="id_classification_generalbusiness" value=""/>
  <element uid="f2eba04f-07ec-4723-bc0f-b207a306c994" value=""/>
</sisl>
</file>

<file path=customXml/itemProps1.xml><?xml version="1.0" encoding="utf-8"?>
<ds:datastoreItem xmlns:ds="http://schemas.openxmlformats.org/officeDocument/2006/customXml" ds:itemID="{45792D89-56E9-41FB-98C7-73D931188F7A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287</Words>
  <Application>Microsoft Office PowerPoint</Application>
  <PresentationFormat>Widescreen</PresentationFormat>
  <Paragraphs>41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 Kredi Hesaplama Web Uygulaması</vt:lpstr>
      <vt:lpstr>Kredi Hesaplama Web Uygulaması</vt:lpstr>
      <vt:lpstr>PowerPoint Presentation</vt:lpstr>
      <vt:lpstr>Kredi Başvuru Sayfası</vt:lpstr>
      <vt:lpstr>Kredi Başvuru:</vt:lpstr>
      <vt:lpstr>Kredi Başvurusu Alındı.</vt:lpstr>
      <vt:lpstr>Kredi Başvurusu Veritabanında:</vt:lpstr>
      <vt:lpstr>Frontend  Angular</vt:lpstr>
      <vt:lpstr>Backend  .Net Core Web Api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Firuze Rukiye KURT İPEZER (Bireysel Krediler ve Sigorta Uygulama Geliştirme Müdürlüğü)</dc:creator>
  <cp:lastModifiedBy>vb35427</cp:lastModifiedBy>
  <cp:revision>6</cp:revision>
  <dcterms:created xsi:type="dcterms:W3CDTF">2023-07-06T11:39:17Z</dcterms:created>
  <dcterms:modified xsi:type="dcterms:W3CDTF">2025-07-21T11:35:58Z</dcterms:modified>
  <cp:category>GZL02;KVKK01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39d57790-9a32-42c7-be29-30995bef5ae4</vt:lpwstr>
  </property>
  <property fmtid="{D5CDD505-2E9C-101B-9397-08002B2CF9AE}" pid="3" name="bjDocumentLabelXML">
    <vt:lpwstr>&lt;?xml version="1.0" encoding="us-ascii"?&gt;&lt;sisl xmlns:xsd="http://www.w3.org/2001/XMLSchema" xmlns:xsi="http://www.w3.org/2001/XMLSchema-instance" sislVersion="0" policy="bab714a6-9187-42f5-a4dd-542e816fcaf4" origin="defaultValue" xmlns="http://www.boldonj</vt:lpwstr>
  </property>
  <property fmtid="{D5CDD505-2E9C-101B-9397-08002B2CF9AE}" pid="4" name="bjDocumentLabelXML-0">
    <vt:lpwstr>ames.com/2008/01/sie/internal/label"&gt;&lt;element uid="id_classification_generalbusiness" value="" /&gt;&lt;element uid="f2eba04f-07ec-4723-bc0f-b207a306c994" value="" /&gt;&lt;/sisl&gt;</vt:lpwstr>
  </property>
  <property fmtid="{D5CDD505-2E9C-101B-9397-08002B2CF9AE}" pid="5" name="bjDocumentSecurityLabel">
    <vt:lpwstr>Kurum İçi Sınırsız Kullanım / Kişisel Veri Değil</vt:lpwstr>
  </property>
  <property fmtid="{D5CDD505-2E9C-101B-9397-08002B2CF9AE}" pid="6" name="bjClsUserRVM">
    <vt:lpwstr>[]</vt:lpwstr>
  </property>
  <property fmtid="{D5CDD505-2E9C-101B-9397-08002B2CF9AE}" pid="7" name="bjSlideMasterFooterText">
    <vt:lpwstr>Kurum İçi Sınırsız Kullanım / Kişisel Veri Değil</vt:lpwstr>
  </property>
  <property fmtid="{D5CDD505-2E9C-101B-9397-08002B2CF9AE}" pid="8" name="bjSaver">
    <vt:lpwstr>sJ7NZVL/3tHGqWrMtz1R7xTutgFk1DmT</vt:lpwstr>
  </property>
</Properties>
</file>